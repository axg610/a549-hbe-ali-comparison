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05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6T20:00:37.1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1341 0 24575,'-22'2'0,"0"1"0,1 0 0,-25 8 0,11-2 0,27-7 0,-75 17 0,-2-3 0,0-4 0,-87 1 0,68-13 0,1-2 0,-135 16 0,213-12 0,-46-2 0,56-1 0,-1 0 0,1 1 0,-1 1 0,1 0 0,-1 1 0,1 1 0,-19 5 0,32-7 0,0 1 0,-1-1 0,1 1 0,0 0 0,0-1 0,0 1 0,0 0 0,0 0 0,0 0 0,1 1 0,-1-1 0,1 0 0,-1 1 0,1-1 0,0 1 0,0-1 0,0 1 0,-1 5 0,-8 55 0,8-44 0,-20 216 0,10 282 0,12-510 0,0-4 0,0-1 0,0 0 0,1 1 0,-1-1 0,1 0 0,-1 0 0,1 1 0,0-1 0,0 0 0,0 0 0,0 0 0,0 0 0,0 0 0,0 0 0,1 0 0,-1-1 0,1 1 0,-1 0 0,1-1 0,0 1 0,0-1 0,0 0 0,0 1 0,0-1 0,0 0 0,0 0 0,0 0 0,3 0 0,7 3 0,0-1 0,0-1 0,0 0 0,17 0 0,-12-1 0,344 8 0,-62-4 0,-225-1 0,147 30 0,-171-24 0,1-2 0,0-3 0,89-2 0,-3-4 0,-135 1 0,0-1 0,0 1 0,0-1 0,0 0 0,0 0 0,0 0 0,0 0 0,0 0 0,0-1 0,-1 1 0,1 0 0,-1-1 0,1 0 0,-1 1 0,1-1 0,-1 0 0,0 1 0,0-1 0,0 0 0,0 0 0,0 0 0,0 0 0,0 0 0,-1 0 0,1 0 0,-1 0 0,1-1 0,-1 1 0,0 0 0,0 0 0,0 0 0,-1-4 0,1-12 0,0-1 0,-7-33 0,5 38 0,-31-184 0,14 96 0,4 0 0,-2-143 0,17 228-115,-1 4-24,1 0 0,1 0 0,0-1 0,0 1 0,1 0 1,1 0-1,1 0 0,4-13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6T20:01:27.7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1478 24575,'1'-8'0,"0"0"0,1 0 0,-1 0 0,2 0 0,-1 0 0,1 1 0,1-1 0,-1 1 0,7-9 0,12-29 0,5-39 0,31-167 0,-34 134 0,13-53 0,97-527 0,-132 678-1365,-1 10-5461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6T20:01:31.1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3019 24575,'7'-9'0,"0"0"0,-1 0 0,-1 0 0,1-1 0,-1 0 0,-1 0 0,7-21 0,-1 2 0,140-457 12,-39-15-131,-101 455 84,150-850-736,-128 634 800,-3-387 0,-31 604-682,1 38-6030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6T20:01:42.8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26 24575,'3'0'0,"6"0"0,6 0 0,1 0 0,0-2 0,1 0 0,-2-1 0,-2 0 0,-4-2 0,-1 0 0,0 1 0,-1 2 0,-2 4 0,-2 5 0,-1 1-8191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6T20:01:43.7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24575,'0'2'0,"0"4"0,2 2 0,1 3 0,0 3 0,2-1 0,-1-1 0,0 0 0,-1-2-8191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6T20:01:44.6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1791 0 24575,'-16'7'0,"0"1"0,0 0 0,1 0 0,-15 12 0,-11 5 0,-770 396 0,425-230 0,332-163 30,1 1 0,2 2 0,-83 65 0,115-80-154,1 1 0,2 0 1,0 0-1,1 1 0,2 1 0,0 0 1,2 0-1,0 1 0,2 0 0,1 0 1,-6 29-1,9-19-6702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9666E-D7BF-403C-BB32-24BD874E5809}" type="datetimeFigureOut">
              <a:rPr lang="en-CA" smtClean="0"/>
              <a:t>2026-04-06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CFA5-3892-4ADE-A660-01F6E87269E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63356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9666E-D7BF-403C-BB32-24BD874E5809}" type="datetimeFigureOut">
              <a:rPr lang="en-CA" smtClean="0"/>
              <a:t>2026-04-06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CFA5-3892-4ADE-A660-01F6E87269E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43487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9666E-D7BF-403C-BB32-24BD874E5809}" type="datetimeFigureOut">
              <a:rPr lang="en-CA" smtClean="0"/>
              <a:t>2026-04-06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CFA5-3892-4ADE-A660-01F6E87269E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31903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9666E-D7BF-403C-BB32-24BD874E5809}" type="datetimeFigureOut">
              <a:rPr lang="en-CA" smtClean="0"/>
              <a:t>2026-04-06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CFA5-3892-4ADE-A660-01F6E87269E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49421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9666E-D7BF-403C-BB32-24BD874E5809}" type="datetimeFigureOut">
              <a:rPr lang="en-CA" smtClean="0"/>
              <a:t>2026-04-06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CFA5-3892-4ADE-A660-01F6E87269E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50073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9666E-D7BF-403C-BB32-24BD874E5809}" type="datetimeFigureOut">
              <a:rPr lang="en-CA" smtClean="0"/>
              <a:t>2026-04-06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CFA5-3892-4ADE-A660-01F6E87269E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86189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9666E-D7BF-403C-BB32-24BD874E5809}" type="datetimeFigureOut">
              <a:rPr lang="en-CA" smtClean="0"/>
              <a:t>2026-04-06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CFA5-3892-4ADE-A660-01F6E87269E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99897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9666E-D7BF-403C-BB32-24BD874E5809}" type="datetimeFigureOut">
              <a:rPr lang="en-CA" smtClean="0"/>
              <a:t>2026-04-06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CFA5-3892-4ADE-A660-01F6E87269E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99538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9666E-D7BF-403C-BB32-24BD874E5809}" type="datetimeFigureOut">
              <a:rPr lang="en-CA" smtClean="0"/>
              <a:t>2026-04-06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CFA5-3892-4ADE-A660-01F6E87269E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72779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9666E-D7BF-403C-BB32-24BD874E5809}" type="datetimeFigureOut">
              <a:rPr lang="en-CA" smtClean="0"/>
              <a:t>2026-04-06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CFA5-3892-4ADE-A660-01F6E87269E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06636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9666E-D7BF-403C-BB32-24BD874E5809}" type="datetimeFigureOut">
              <a:rPr lang="en-CA" smtClean="0"/>
              <a:t>2026-04-06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CFA5-3892-4ADE-A660-01F6E87269E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4347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69666E-D7BF-403C-BB32-24BD874E5809}" type="datetimeFigureOut">
              <a:rPr lang="en-CA" smtClean="0"/>
              <a:t>2026-04-06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5CCFA5-3892-4ADE-A660-01F6E87269E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66876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13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12" Type="http://schemas.openxmlformats.org/officeDocument/2006/relationships/customXml" Target="../ink/ink4.xml"/><Relationship Id="rId17" Type="http://schemas.openxmlformats.org/officeDocument/2006/relationships/image" Target="../media/image10.png"/><Relationship Id="rId2" Type="http://schemas.openxmlformats.org/officeDocument/2006/relationships/image" Target="../media/image1.png"/><Relationship Id="rId16" Type="http://schemas.openxmlformats.org/officeDocument/2006/relationships/customXml" Target="../ink/ink6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.xml"/><Relationship Id="rId11" Type="http://schemas.openxmlformats.org/officeDocument/2006/relationships/image" Target="../media/image7.png"/><Relationship Id="rId5" Type="http://schemas.openxmlformats.org/officeDocument/2006/relationships/image" Target="../media/image4.png"/><Relationship Id="rId15" Type="http://schemas.openxmlformats.org/officeDocument/2006/relationships/image" Target="../media/image9.png"/><Relationship Id="rId10" Type="http://schemas.openxmlformats.org/officeDocument/2006/relationships/customXml" Target="../ink/ink3.xml"/><Relationship Id="rId4" Type="http://schemas.openxmlformats.org/officeDocument/2006/relationships/image" Target="../media/image3.png"/><Relationship Id="rId9" Type="http://schemas.openxmlformats.org/officeDocument/2006/relationships/image" Target="../media/image6.png"/><Relationship Id="rId14" Type="http://schemas.openxmlformats.org/officeDocument/2006/relationships/customXml" Target="../ink/ink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0BCAB7A-6A08-1C37-A45E-ACC5324916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228992"/>
            <a:ext cx="4464992" cy="19135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9E3076-C823-8C77-7329-59DA07DA42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4437" y="4253926"/>
            <a:ext cx="4219565" cy="26040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517C34D-B77B-F3CA-32D2-5573B5FD78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53926"/>
            <a:ext cx="4219565" cy="260407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9E1394D-40C7-5ABA-039D-51AE68A10C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010" y="1333499"/>
            <a:ext cx="3978555" cy="1704553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527BE62-47DA-7C2A-739D-4BE9D0F77684}"/>
              </a:ext>
            </a:extLst>
          </p:cNvPr>
          <p:cNvCxnSpPr/>
          <p:nvPr/>
        </p:nvCxnSpPr>
        <p:spPr>
          <a:xfrm>
            <a:off x="4339307" y="280640"/>
            <a:ext cx="0" cy="64552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1BD13E8-973D-FCCE-61B6-75B3E970AF7A}"/>
              </a:ext>
            </a:extLst>
          </p:cNvPr>
          <p:cNvSpPr txBox="1"/>
          <p:nvPr/>
        </p:nvSpPr>
        <p:spPr>
          <a:xfrm>
            <a:off x="154517" y="171564"/>
            <a:ext cx="397855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>
                <a:latin typeface="Arial Narrow" panose="020B0606020202030204" pitchFamily="34" charset="0"/>
              </a:rPr>
              <a:t>Pre-fix:</a:t>
            </a:r>
          </a:p>
          <a:p>
            <a:r>
              <a:rPr lang="en-US" sz="1600" dirty="0">
                <a:latin typeface="Arial Narrow" panose="020B0606020202030204" pitchFamily="34" charset="0"/>
              </a:rPr>
              <a:t>if gene x in </a:t>
            </a:r>
            <a:r>
              <a:rPr lang="en-US" sz="1600" i="1" u="sng" dirty="0">
                <a:latin typeface="Arial Narrow" panose="020B0606020202030204" pitchFamily="34" charset="0"/>
              </a:rPr>
              <a:t>any</a:t>
            </a:r>
            <a:r>
              <a:rPr lang="en-US" sz="1600" dirty="0">
                <a:latin typeface="Arial Narrow" panose="020B0606020202030204" pitchFamily="34" charset="0"/>
              </a:rPr>
              <a:t> A549 rep meets the threshold, call the gene as regulated</a:t>
            </a:r>
          </a:p>
          <a:p>
            <a:r>
              <a:rPr lang="en-US" sz="1600" dirty="0">
                <a:solidFill>
                  <a:srgbClr val="FF0000"/>
                </a:solidFill>
                <a:latin typeface="Arial Narrow" panose="020B0606020202030204" pitchFamily="34" charset="0"/>
              </a:rPr>
              <a:t>Discrepancy: 8628 A549 genes vs ~2500 on Venn</a:t>
            </a:r>
            <a:endParaRPr lang="en-CA" sz="1600" dirty="0">
              <a:solidFill>
                <a:srgbClr val="FF0000"/>
              </a:solidFill>
              <a:latin typeface="Arial Narrow" panose="020B060602020203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A72B3E7-F62A-AAD6-CC4B-EF8566B08161}"/>
              </a:ext>
            </a:extLst>
          </p:cNvPr>
          <p:cNvSpPr txBox="1"/>
          <p:nvPr/>
        </p:nvSpPr>
        <p:spPr>
          <a:xfrm>
            <a:off x="4572000" y="171563"/>
            <a:ext cx="420369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>
                <a:latin typeface="Arial Narrow" panose="020B0606020202030204" pitchFamily="34" charset="0"/>
              </a:rPr>
              <a:t>Post-fix:</a:t>
            </a:r>
          </a:p>
          <a:p>
            <a:r>
              <a:rPr lang="en-US" sz="1600" dirty="0">
                <a:latin typeface="Arial Narrow" panose="020B0606020202030204" pitchFamily="34" charset="0"/>
              </a:rPr>
              <a:t>if the </a:t>
            </a:r>
            <a:r>
              <a:rPr lang="en-US" sz="1600" i="1" u="sng" dirty="0">
                <a:latin typeface="Arial Narrow" panose="020B0606020202030204" pitchFamily="34" charset="0"/>
              </a:rPr>
              <a:t>mean</a:t>
            </a:r>
            <a:r>
              <a:rPr lang="en-US" sz="1600" dirty="0">
                <a:latin typeface="Arial Narrow" panose="020B0606020202030204" pitchFamily="34" charset="0"/>
              </a:rPr>
              <a:t> log2fold of gene x in A549 meets the threshold, only then do we call the gene as regulated</a:t>
            </a:r>
          </a:p>
          <a:p>
            <a:r>
              <a:rPr lang="en-US" sz="1600" dirty="0">
                <a:solidFill>
                  <a:srgbClr val="FF0000"/>
                </a:solidFill>
                <a:latin typeface="Arial Narrow" panose="020B0606020202030204" pitchFamily="34" charset="0"/>
              </a:rPr>
              <a:t>Discrepancy fixed</a:t>
            </a:r>
            <a:endParaRPr lang="en-CA" sz="1600" dirty="0">
              <a:solidFill>
                <a:srgbClr val="FF0000"/>
              </a:solidFill>
              <a:latin typeface="Arial Narrow" panose="020B0606020202030204" pitchFamily="34" charset="0"/>
            </a:endParaRPr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5FBC1DA8-CD08-F5D9-EA4E-A9363487223E}"/>
              </a:ext>
            </a:extLst>
          </p:cNvPr>
          <p:cNvSpPr/>
          <p:nvPr/>
        </p:nvSpPr>
        <p:spPr>
          <a:xfrm>
            <a:off x="3728748" y="3215097"/>
            <a:ext cx="1221117" cy="604852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4D4A6CCD-9ACE-48EF-85C0-86A56A17E201}"/>
                  </a:ext>
                </a:extLst>
              </p14:cNvPr>
              <p14:cNvContentPartPr/>
              <p14:nvPr/>
            </p14:nvContentPartPr>
            <p14:xfrm>
              <a:off x="1625410" y="2495390"/>
              <a:ext cx="560520" cy="41328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4D4A6CCD-9ACE-48EF-85C0-86A56A17E20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07410" y="2477390"/>
                <a:ext cx="596160" cy="448920"/>
              </a:xfrm>
              <a:prstGeom prst="rect">
                <a:avLst/>
              </a:prstGeom>
            </p:spPr>
          </p:pic>
        </mc:Fallback>
      </mc:AlternateContent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2979FDA4-0432-64FA-DF2F-8FE18CADE6E6}"/>
              </a:ext>
            </a:extLst>
          </p:cNvPr>
          <p:cNvSpPr/>
          <p:nvPr/>
        </p:nvSpPr>
        <p:spPr>
          <a:xfrm rot="11986944">
            <a:off x="665385" y="4740539"/>
            <a:ext cx="45719" cy="103685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5ACD1A7D-ED37-2E84-73A1-279784C33ECE}"/>
              </a:ext>
            </a:extLst>
          </p:cNvPr>
          <p:cNvSpPr/>
          <p:nvPr/>
        </p:nvSpPr>
        <p:spPr>
          <a:xfrm rot="11986944">
            <a:off x="640707" y="4347350"/>
            <a:ext cx="64120" cy="143991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17990AFD-B34E-43E6-4F63-E2AFDE6764FC}"/>
                  </a:ext>
                </a:extLst>
              </p14:cNvPr>
              <p14:cNvContentPartPr/>
              <p14:nvPr/>
            </p14:nvContentPartPr>
            <p14:xfrm>
              <a:off x="690311" y="3825664"/>
              <a:ext cx="120960" cy="53244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17990AFD-B34E-43E6-4F63-E2AFDE6764F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84191" y="3819544"/>
                <a:ext cx="133200" cy="54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A459F1DE-AD84-8FBA-7775-58DDBBB5EDF0}"/>
                  </a:ext>
                </a:extLst>
              </p14:cNvPr>
              <p14:cNvContentPartPr/>
              <p14:nvPr/>
            </p14:nvContentPartPr>
            <p14:xfrm>
              <a:off x="699660" y="3666184"/>
              <a:ext cx="199440" cy="108684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A459F1DE-AD84-8FBA-7775-58DDBBB5EDF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93540" y="3660064"/>
                <a:ext cx="211680" cy="109908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8A734763-921E-BF0F-C08A-A6ABB90F6F7E}"/>
              </a:ext>
            </a:extLst>
          </p:cNvPr>
          <p:cNvGrpSpPr/>
          <p:nvPr/>
        </p:nvGrpSpPr>
        <p:grpSpPr>
          <a:xfrm>
            <a:off x="1007820" y="2997533"/>
            <a:ext cx="658080" cy="431467"/>
            <a:chOff x="1007820" y="2997533"/>
            <a:chExt cx="658080" cy="57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1F34239-7888-9988-292B-8271CFB97EB9}"/>
                    </a:ext>
                  </a:extLst>
                </p14:cNvPr>
                <p14:cNvContentPartPr/>
                <p14:nvPr/>
              </p14:nvContentPartPr>
              <p14:xfrm>
                <a:off x="1604700" y="2997533"/>
                <a:ext cx="52920" cy="126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1F34239-7888-9988-292B-8271CFB97EB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598580" y="2989295"/>
                  <a:ext cx="65160" cy="290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81EA98B-24B0-B063-D4ED-E27703C1304B}"/>
                    </a:ext>
                  </a:extLst>
                </p14:cNvPr>
                <p14:cNvContentPartPr/>
                <p14:nvPr/>
              </p14:nvContentPartPr>
              <p14:xfrm>
                <a:off x="1656900" y="3014453"/>
                <a:ext cx="9000" cy="424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81EA98B-24B0-B063-D4ED-E27703C1304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650780" y="3006339"/>
                  <a:ext cx="21240" cy="5870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BED6BD6-ED4F-22E3-1BCD-992495303915}"/>
                    </a:ext>
                  </a:extLst>
                </p14:cNvPr>
                <p14:cNvContentPartPr/>
                <p14:nvPr/>
              </p14:nvContentPartPr>
              <p14:xfrm>
                <a:off x="1007820" y="3019133"/>
                <a:ext cx="645120" cy="5533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BED6BD6-ED4F-22E3-1BCD-99249530391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01700" y="3010982"/>
                  <a:ext cx="657360" cy="569622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1F0CAAFA-7108-C1DD-2DD5-C2E929DF52A1}"/>
              </a:ext>
            </a:extLst>
          </p:cNvPr>
          <p:cNvSpPr txBox="1"/>
          <p:nvPr/>
        </p:nvSpPr>
        <p:spPr>
          <a:xfrm>
            <a:off x="241010" y="3347271"/>
            <a:ext cx="15607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>
                <a:solidFill>
                  <a:srgbClr val="FF0000"/>
                </a:solidFill>
                <a:latin typeface="Arial Narrow" panose="020B0606020202030204" pitchFamily="34" charset="0"/>
              </a:rPr>
              <a:t>Inflated counts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2F7DFEF-85D3-4DBF-C88A-75C6C8C9BCF9}"/>
              </a:ext>
            </a:extLst>
          </p:cNvPr>
          <p:cNvSpPr txBox="1"/>
          <p:nvPr/>
        </p:nvSpPr>
        <p:spPr>
          <a:xfrm>
            <a:off x="3849855" y="5238810"/>
            <a:ext cx="11000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700" dirty="0">
                <a:solidFill>
                  <a:srgbClr val="FF0000"/>
                </a:solidFill>
                <a:highlight>
                  <a:srgbClr val="FFFF00"/>
                </a:highlight>
                <a:latin typeface="Arial Narrow" panose="020B0606020202030204" pitchFamily="34" charset="0"/>
              </a:rPr>
              <a:t>sig = is FDR &lt;-= 0.05?</a:t>
            </a:r>
          </a:p>
        </p:txBody>
      </p:sp>
    </p:spTree>
    <p:extLst>
      <p:ext uri="{BB962C8B-B14F-4D97-AF65-F5344CB8AC3E}">
        <p14:creationId xmlns:p14="http://schemas.microsoft.com/office/powerpoint/2010/main" val="30121790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</TotalTime>
  <Words>63</Words>
  <Application>Microsoft Office PowerPoint</Application>
  <PresentationFormat>On-screen Show (4:3)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Arial Narrow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 Gao</dc:creator>
  <cp:lastModifiedBy>Alex Gao</cp:lastModifiedBy>
  <cp:revision>1</cp:revision>
  <dcterms:created xsi:type="dcterms:W3CDTF">2026-04-06T19:56:30Z</dcterms:created>
  <dcterms:modified xsi:type="dcterms:W3CDTF">2026-04-06T20:03:48Z</dcterms:modified>
</cp:coreProperties>
</file>